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344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284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70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00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232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40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98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009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873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37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45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90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65566-95B0-4A29-AFD6-C7F373EDB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1842931"/>
          </a:xfrm>
        </p:spPr>
        <p:txBody>
          <a:bodyPr>
            <a:normAutofit/>
          </a:bodyPr>
          <a:lstStyle/>
          <a:p>
            <a:r>
              <a:rPr lang="en-US" sz="48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</a:t>
            </a:r>
            <a:br>
              <a:rPr lang="en-US" sz="4800" dirty="0">
                <a:solidFill>
                  <a:schemeClr val="accent1"/>
                </a:solidFill>
              </a:rPr>
            </a:br>
            <a:endParaRPr lang="en-US" sz="4800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22C707-30AF-F781-26AC-90EE12163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3106" y="2518834"/>
            <a:ext cx="8561746" cy="977621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Case Study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Are Customers Leaving and How Can We Stop Them?</a:t>
            </a:r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C27D0D-6B3C-626F-2AA9-B619381C3E8B}"/>
              </a:ext>
            </a:extLst>
          </p:cNvPr>
          <p:cNvSpPr/>
          <p:nvPr/>
        </p:nvSpPr>
        <p:spPr>
          <a:xfrm>
            <a:off x="3831764" y="4494531"/>
            <a:ext cx="4615548" cy="71846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Vivian </a:t>
            </a:r>
            <a:r>
              <a:rPr lang="en-US" dirty="0" err="1">
                <a:solidFill>
                  <a:schemeClr val="tx1"/>
                </a:solidFill>
              </a:rPr>
              <a:t>Okoaze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Sales &amp; Product Analyst</a:t>
            </a:r>
          </a:p>
        </p:txBody>
      </p:sp>
    </p:spTree>
    <p:extLst>
      <p:ext uri="{BB962C8B-B14F-4D97-AF65-F5344CB8AC3E}">
        <p14:creationId xmlns:p14="http://schemas.microsoft.com/office/powerpoint/2010/main" val="197519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4A85F1-8C3B-5A47-7FC8-ACB709085032}"/>
              </a:ext>
            </a:extLst>
          </p:cNvPr>
          <p:cNvSpPr/>
          <p:nvPr/>
        </p:nvSpPr>
        <p:spPr>
          <a:xfrm>
            <a:off x="-5" y="10883"/>
            <a:ext cx="12192005" cy="5445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Statement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B1799-3331-4146-B5C1-43F7CD6C9325}"/>
              </a:ext>
            </a:extLst>
          </p:cNvPr>
          <p:cNvSpPr txBox="1"/>
          <p:nvPr/>
        </p:nvSpPr>
        <p:spPr>
          <a:xfrm>
            <a:off x="2242458" y="2373078"/>
            <a:ext cx="805542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 Questions: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Why are customers leaving the company?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Which factors contribute most to churn?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customers are at highest risk right now and need immediate intervention?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service, contract, and billing characteristics are associated with churn?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segments need urgent retention action?</a:t>
            </a:r>
            <a:endParaRPr lang="en-US" dirty="0"/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EE04AD-DE6E-F0F6-0F90-6E3E0E5A9559}"/>
              </a:ext>
            </a:extLst>
          </p:cNvPr>
          <p:cNvSpPr txBox="1"/>
          <p:nvPr/>
        </p:nvSpPr>
        <p:spPr>
          <a:xfrm>
            <a:off x="1524001" y="794656"/>
            <a:ext cx="1017814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 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Business Concern</a:t>
            </a:r>
          </a:p>
          <a:p>
            <a:pPr algn="ctr"/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/>
              <a:t>The telecommunications company is experiencing a customer churn rate of 26.54% resulting in revenue loss and increased customer acquisition costs.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0ECFB5-D021-D444-0B91-0A16C7D64934}"/>
              </a:ext>
            </a:extLst>
          </p:cNvPr>
          <p:cNvSpPr txBox="1"/>
          <p:nvPr/>
        </p:nvSpPr>
        <p:spPr>
          <a:xfrm>
            <a:off x="1066799" y="4648199"/>
            <a:ext cx="1017814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 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 </a:t>
            </a:r>
          </a:p>
          <a:p>
            <a:pPr algn="ctr"/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/>
              <a:t>The objective of this analysis is to identify the factors contributing to customer churn and recommend strategies to improve customer retention.</a:t>
            </a:r>
          </a:p>
        </p:txBody>
      </p:sp>
    </p:spTree>
    <p:extLst>
      <p:ext uri="{BB962C8B-B14F-4D97-AF65-F5344CB8AC3E}">
        <p14:creationId xmlns:p14="http://schemas.microsoft.com/office/powerpoint/2010/main" val="3127760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3EE25-4E89-38F8-FA91-5AD635DA6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555453"/>
            <a:ext cx="9520158" cy="1232985"/>
          </a:xfrm>
        </p:spPr>
        <p:txBody>
          <a:bodyPr>
            <a:normAutofit fontScale="90000"/>
          </a:bodyPr>
          <a:lstStyle/>
          <a:p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The Customer Churn  dataset contains information about customers of a telecommunications company and is designed to help analyze why customers discontinue their services.</a:t>
            </a:r>
            <a:br>
              <a:rPr lang="en-US" sz="1800" dirty="0"/>
            </a:br>
            <a:r>
              <a:rPr lang="en-US" sz="1800" dirty="0"/>
              <a:t> Each record represents one unique customer and their relationship with the company.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977F7C-8E0C-88BE-8883-40A2FD4E6BCE}"/>
              </a:ext>
            </a:extLst>
          </p:cNvPr>
          <p:cNvSpPr/>
          <p:nvPr/>
        </p:nvSpPr>
        <p:spPr>
          <a:xfrm>
            <a:off x="-5" y="10883"/>
            <a:ext cx="12192005" cy="5445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Dataset Overview</a:t>
            </a:r>
            <a:endParaRPr lang="en-US" sz="3200" dirty="0">
              <a:solidFill>
                <a:schemeClr val="tx1"/>
              </a:solidFill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F10254EC-5DD9-C3A0-EE8F-C6DCF3CE1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565707"/>
              </p:ext>
            </p:extLst>
          </p:nvPr>
        </p:nvGraphicFramePr>
        <p:xfrm>
          <a:off x="424545" y="3639896"/>
          <a:ext cx="6904836" cy="2455926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3452418">
                  <a:extLst>
                    <a:ext uri="{9D8B030D-6E8A-4147-A177-3AD203B41FA5}">
                      <a16:colId xmlns:a16="http://schemas.microsoft.com/office/drawing/2014/main" val="1579127746"/>
                    </a:ext>
                  </a:extLst>
                </a:gridCol>
                <a:gridCol w="3452418">
                  <a:extLst>
                    <a:ext uri="{9D8B030D-6E8A-4147-A177-3AD203B41FA5}">
                      <a16:colId xmlns:a16="http://schemas.microsoft.com/office/drawing/2014/main" val="1558531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</a:rPr>
                        <a:t>Demographics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00" dirty="0">
                          <a:effectLst/>
                        </a:rPr>
                        <a:t>Senior Citizen, Partner, Gender, Dependents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94831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  <a:tabLst>
                          <a:tab pos="1409700" algn="ctr"/>
                        </a:tabLst>
                      </a:pPr>
                      <a:r>
                        <a:rPr lang="en-US" sz="1100" b="0" kern="100" dirty="0">
                          <a:effectLst/>
                        </a:rPr>
                        <a:t>Identifier	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 err="1">
                          <a:effectLst/>
                        </a:rPr>
                        <a:t>CustomerID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2206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</a:rPr>
                        <a:t>Services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</a:rPr>
                        <a:t> Internet Service, Online Security, Phone Service, Multiple Lines, Online Backup, Tech Support, Streaming TV, Streaming Movies, Device Protection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32578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</a:rPr>
                        <a:t>Billing Information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</a:rPr>
                        <a:t>Monthly Charges, Total Charges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88614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</a:rPr>
                        <a:t>Account Information 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00" dirty="0">
                          <a:effectLst/>
                        </a:rPr>
                        <a:t>Contract, Payment Method, Tenure, Paperless Billing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26004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</a:rPr>
                        <a:t>Target Variable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</a:rPr>
                        <a:t>Churn (Yes/No)</a:t>
                      </a:r>
                      <a:endParaRPr lang="en-US" sz="1100" b="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628941810"/>
                  </a:ext>
                </a:extLst>
              </a:tr>
            </a:tbl>
          </a:graphicData>
        </a:graphic>
      </p:graphicFrame>
      <p:sp>
        <p:nvSpPr>
          <p:cNvPr id="43" name="Text 19">
            <a:extLst>
              <a:ext uri="{FF2B5EF4-FFF2-40B4-BE49-F238E27FC236}">
                <a16:creationId xmlns:a16="http://schemas.microsoft.com/office/drawing/2014/main" id="{46E79A4A-11D6-D06C-3305-11BA686B14DB}"/>
              </a:ext>
            </a:extLst>
          </p:cNvPr>
          <p:cNvSpPr/>
          <p:nvPr/>
        </p:nvSpPr>
        <p:spPr>
          <a:xfrm>
            <a:off x="502388" y="3329608"/>
            <a:ext cx="5049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Data Categories</a:t>
            </a:r>
            <a:endParaRPr lang="en-US" sz="1400" dirty="0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EDE60D15-F8FB-538F-D817-E3D21E71A0E8}"/>
              </a:ext>
            </a:extLst>
          </p:cNvPr>
          <p:cNvSpPr/>
          <p:nvPr/>
        </p:nvSpPr>
        <p:spPr>
          <a:xfrm>
            <a:off x="1514757" y="1805173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60813A31-BE75-A634-A8AB-A483181C81E4}"/>
              </a:ext>
            </a:extLst>
          </p:cNvPr>
          <p:cNvSpPr/>
          <p:nvPr/>
        </p:nvSpPr>
        <p:spPr>
          <a:xfrm>
            <a:off x="1514757" y="2236249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</a:rPr>
              <a:t>7,043</a:t>
            </a:r>
            <a:endParaRPr lang="en-US" sz="3000" dirty="0"/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51D8BABD-B8AE-087F-25B1-110A88F34745}"/>
              </a:ext>
            </a:extLst>
          </p:cNvPr>
          <p:cNvSpPr/>
          <p:nvPr/>
        </p:nvSpPr>
        <p:spPr>
          <a:xfrm>
            <a:off x="1514757" y="1917297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400" dirty="0"/>
          </a:p>
        </p:txBody>
      </p:sp>
      <p:sp>
        <p:nvSpPr>
          <p:cNvPr id="72" name="Shape 3">
            <a:extLst>
              <a:ext uri="{FF2B5EF4-FFF2-40B4-BE49-F238E27FC236}">
                <a16:creationId xmlns:a16="http://schemas.microsoft.com/office/drawing/2014/main" id="{A5283397-F84D-C14E-9B8B-3432F61FA366}"/>
              </a:ext>
            </a:extLst>
          </p:cNvPr>
          <p:cNvSpPr/>
          <p:nvPr/>
        </p:nvSpPr>
        <p:spPr>
          <a:xfrm>
            <a:off x="3539502" y="1805173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34310AC0-E2DB-80C7-4F32-3FF594CC32C0}"/>
              </a:ext>
            </a:extLst>
          </p:cNvPr>
          <p:cNvSpPr/>
          <p:nvPr/>
        </p:nvSpPr>
        <p:spPr>
          <a:xfrm>
            <a:off x="3539502" y="2214477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</a:rPr>
              <a:t>21</a:t>
            </a:r>
            <a:endParaRPr lang="en-US" sz="3000" dirty="0"/>
          </a:p>
        </p:txBody>
      </p:sp>
      <p:sp>
        <p:nvSpPr>
          <p:cNvPr id="74" name="Text 5">
            <a:extLst>
              <a:ext uri="{FF2B5EF4-FFF2-40B4-BE49-F238E27FC236}">
                <a16:creationId xmlns:a16="http://schemas.microsoft.com/office/drawing/2014/main" id="{EAAD271A-B4CF-1390-1BB4-EAB785EBF727}"/>
              </a:ext>
            </a:extLst>
          </p:cNvPr>
          <p:cNvSpPr/>
          <p:nvPr/>
        </p:nvSpPr>
        <p:spPr>
          <a:xfrm>
            <a:off x="3539502" y="1884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75" name="Shape 3">
            <a:extLst>
              <a:ext uri="{FF2B5EF4-FFF2-40B4-BE49-F238E27FC236}">
                <a16:creationId xmlns:a16="http://schemas.microsoft.com/office/drawing/2014/main" id="{14F12044-3B2A-4C6E-4D50-A9F4A2E291DD}"/>
              </a:ext>
            </a:extLst>
          </p:cNvPr>
          <p:cNvSpPr/>
          <p:nvPr/>
        </p:nvSpPr>
        <p:spPr>
          <a:xfrm>
            <a:off x="5564247" y="1805173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EF51BBEA-BB1C-6A0A-2C79-F6086A2B7B69}"/>
              </a:ext>
            </a:extLst>
          </p:cNvPr>
          <p:cNvSpPr/>
          <p:nvPr/>
        </p:nvSpPr>
        <p:spPr>
          <a:xfrm>
            <a:off x="5564247" y="2421303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</a:rPr>
              <a:t>1,869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7" name="Text 5">
            <a:extLst>
              <a:ext uri="{FF2B5EF4-FFF2-40B4-BE49-F238E27FC236}">
                <a16:creationId xmlns:a16="http://schemas.microsoft.com/office/drawing/2014/main" id="{D6D50891-1526-ED9F-8926-130AA8A46675}"/>
              </a:ext>
            </a:extLst>
          </p:cNvPr>
          <p:cNvSpPr/>
          <p:nvPr/>
        </p:nvSpPr>
        <p:spPr>
          <a:xfrm>
            <a:off x="5564247" y="193906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400" dirty="0"/>
          </a:p>
        </p:txBody>
      </p:sp>
      <p:sp>
        <p:nvSpPr>
          <p:cNvPr id="78" name="Shape 3">
            <a:extLst>
              <a:ext uri="{FF2B5EF4-FFF2-40B4-BE49-F238E27FC236}">
                <a16:creationId xmlns:a16="http://schemas.microsoft.com/office/drawing/2014/main" id="{CB0612E7-C12B-CF9E-CDB4-E1FC2D3DF220}"/>
              </a:ext>
            </a:extLst>
          </p:cNvPr>
          <p:cNvSpPr/>
          <p:nvPr/>
        </p:nvSpPr>
        <p:spPr>
          <a:xfrm>
            <a:off x="7588992" y="1805173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9" name="Text 4">
            <a:extLst>
              <a:ext uri="{FF2B5EF4-FFF2-40B4-BE49-F238E27FC236}">
                <a16:creationId xmlns:a16="http://schemas.microsoft.com/office/drawing/2014/main" id="{CE5876CF-1C3D-A1EA-D2E1-3B8BB2F1E00C}"/>
              </a:ext>
            </a:extLst>
          </p:cNvPr>
          <p:cNvSpPr/>
          <p:nvPr/>
        </p:nvSpPr>
        <p:spPr>
          <a:xfrm>
            <a:off x="7588992" y="2236249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latin typeface="Cambria" pitchFamily="34" charset="0"/>
                <a:ea typeface="Cambria" pitchFamily="34" charset="-122"/>
              </a:rPr>
              <a:t>5,174</a:t>
            </a:r>
            <a:endParaRPr lang="en-US" sz="3000" dirty="0"/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C648CB7D-67D4-9728-82B7-B018E93349A4}"/>
              </a:ext>
            </a:extLst>
          </p:cNvPr>
          <p:cNvSpPr/>
          <p:nvPr/>
        </p:nvSpPr>
        <p:spPr>
          <a:xfrm>
            <a:off x="7588992" y="1895523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400" dirty="0"/>
          </a:p>
        </p:txBody>
      </p:sp>
      <p:sp>
        <p:nvSpPr>
          <p:cNvPr id="81" name="Shape 3">
            <a:extLst>
              <a:ext uri="{FF2B5EF4-FFF2-40B4-BE49-F238E27FC236}">
                <a16:creationId xmlns:a16="http://schemas.microsoft.com/office/drawing/2014/main" id="{28299154-C37E-C64F-E4B4-B71A7CF0B955}"/>
              </a:ext>
            </a:extLst>
          </p:cNvPr>
          <p:cNvSpPr/>
          <p:nvPr/>
        </p:nvSpPr>
        <p:spPr>
          <a:xfrm>
            <a:off x="9613737" y="1805173"/>
            <a:ext cx="1920240" cy="1371600"/>
          </a:xfrm>
          <a:prstGeom prst="roundRect">
            <a:avLst>
              <a:gd name="adj" fmla="val 6667"/>
            </a:avLst>
          </a:prstGeom>
          <a:solidFill>
            <a:schemeClr val="accent3">
              <a:lumMod val="60000"/>
              <a:lumOff val="40000"/>
            </a:schemeClr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2" name="Text 4">
            <a:extLst>
              <a:ext uri="{FF2B5EF4-FFF2-40B4-BE49-F238E27FC236}">
                <a16:creationId xmlns:a16="http://schemas.microsoft.com/office/drawing/2014/main" id="{93D84582-A3F3-118E-60CD-36805473275F}"/>
              </a:ext>
            </a:extLst>
          </p:cNvPr>
          <p:cNvSpPr/>
          <p:nvPr/>
        </p:nvSpPr>
        <p:spPr>
          <a:xfrm>
            <a:off x="9613737" y="2236249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latin typeface="Cambria" pitchFamily="34" charset="0"/>
                <a:ea typeface="Cambria" pitchFamily="34" charset="-122"/>
              </a:rPr>
              <a:t>11 Rows (Replaced)</a:t>
            </a:r>
            <a:endParaRPr lang="en-US" dirty="0"/>
          </a:p>
        </p:txBody>
      </p:sp>
      <p:sp>
        <p:nvSpPr>
          <p:cNvPr id="83" name="Text 5">
            <a:extLst>
              <a:ext uri="{FF2B5EF4-FFF2-40B4-BE49-F238E27FC236}">
                <a16:creationId xmlns:a16="http://schemas.microsoft.com/office/drawing/2014/main" id="{369C3029-D42B-AD7A-7CD3-8BB00F5EF2AF}"/>
              </a:ext>
            </a:extLst>
          </p:cNvPr>
          <p:cNvSpPr/>
          <p:nvPr/>
        </p:nvSpPr>
        <p:spPr>
          <a:xfrm>
            <a:off x="9613737" y="187375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400" dirty="0"/>
          </a:p>
        </p:txBody>
      </p:sp>
      <p:sp>
        <p:nvSpPr>
          <p:cNvPr id="84" name="Text 19">
            <a:extLst>
              <a:ext uri="{FF2B5EF4-FFF2-40B4-BE49-F238E27FC236}">
                <a16:creationId xmlns:a16="http://schemas.microsoft.com/office/drawing/2014/main" id="{1FE36068-B28A-5CDD-A823-8C5FDBDC54A8}"/>
              </a:ext>
            </a:extLst>
          </p:cNvPr>
          <p:cNvSpPr/>
          <p:nvPr/>
        </p:nvSpPr>
        <p:spPr>
          <a:xfrm>
            <a:off x="7794170" y="3329608"/>
            <a:ext cx="37229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0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 (KPIs)</a:t>
            </a:r>
            <a:endParaRPr lang="en-US" sz="1400" dirty="0"/>
          </a:p>
        </p:txBody>
      </p:sp>
      <p:graphicFrame>
        <p:nvGraphicFramePr>
          <p:cNvPr id="153" name="Table 152">
            <a:extLst>
              <a:ext uri="{FF2B5EF4-FFF2-40B4-BE49-F238E27FC236}">
                <a16:creationId xmlns:a16="http://schemas.microsoft.com/office/drawing/2014/main" id="{87A8037C-AB89-3113-31C8-D5FFB7CB5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580573"/>
              </p:ext>
            </p:extLst>
          </p:nvPr>
        </p:nvGraphicFramePr>
        <p:xfrm>
          <a:off x="7707083" y="3720414"/>
          <a:ext cx="4060372" cy="2364151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2030186">
                  <a:extLst>
                    <a:ext uri="{9D8B030D-6E8A-4147-A177-3AD203B41FA5}">
                      <a16:colId xmlns:a16="http://schemas.microsoft.com/office/drawing/2014/main" val="1579127746"/>
                    </a:ext>
                  </a:extLst>
                </a:gridCol>
                <a:gridCol w="2030186">
                  <a:extLst>
                    <a:ext uri="{9D8B030D-6E8A-4147-A177-3AD203B41FA5}">
                      <a16:colId xmlns:a16="http://schemas.microsoft.com/office/drawing/2014/main" val="1558531242"/>
                    </a:ext>
                  </a:extLst>
                </a:gridCol>
              </a:tblGrid>
              <a:tr h="3920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</a:rPr>
                        <a:t>Total Customers</a:t>
                      </a:r>
                      <a:endParaRPr lang="en-US" sz="1100" b="0" kern="1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7,043</a:t>
                      </a: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94831218"/>
                  </a:ext>
                </a:extLst>
              </a:tr>
              <a:tr h="2853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Churned Customers</a:t>
                      </a: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1,869</a:t>
                      </a: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215549387"/>
                  </a:ext>
                </a:extLst>
              </a:tr>
              <a:tr h="2502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  <a:tabLst>
                          <a:tab pos="1409700" algn="ctr"/>
                        </a:tabLst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Churn Rate</a:t>
                      </a: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26.54%</a:t>
                      </a: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22067157"/>
                  </a:ext>
                </a:extLst>
              </a:tr>
              <a:tr h="2502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  <a:tabLst>
                          <a:tab pos="1409700" algn="ctr"/>
                        </a:tabLst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Active Retained Monthly Charges</a:t>
                      </a: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61</a:t>
                      </a: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925070829"/>
                  </a:ext>
                </a:extLst>
              </a:tr>
              <a:tr h="3394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Average Churned Tenure</a:t>
                      </a: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18 months</a:t>
                      </a: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32578808"/>
                  </a:ext>
                </a:extLst>
              </a:tr>
              <a:tr h="2502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Average Monthly Charges</a:t>
                      </a: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64.76%</a:t>
                      </a: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886144390"/>
                  </a:ext>
                </a:extLst>
              </a:tr>
              <a:tr h="304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Average Tenure</a:t>
                      </a: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1100" b="0" kern="1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32.37</a:t>
                      </a: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26004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11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3F8006-C3F7-7670-D65B-7FB99E32A724}"/>
              </a:ext>
            </a:extLst>
          </p:cNvPr>
          <p:cNvSpPr/>
          <p:nvPr/>
        </p:nvSpPr>
        <p:spPr>
          <a:xfrm>
            <a:off x="-5" y="10883"/>
            <a:ext cx="12192005" cy="5445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Comparison: Churned vs Retained Customers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7479B96-0BBC-F2EB-3022-9DDA7B4B3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2" y="1107793"/>
            <a:ext cx="3374571" cy="25045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BEBB2A0-DB3A-705D-A1C6-BACDDF256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492" y="1100792"/>
            <a:ext cx="3401322" cy="239352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875EAB8-952E-5829-4E2E-FACA28EB9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339" y="1112415"/>
            <a:ext cx="3302710" cy="210896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DB4D6606-9A48-C35F-1CCE-B8B73AC4C21B}"/>
              </a:ext>
            </a:extLst>
          </p:cNvPr>
          <p:cNvSpPr/>
          <p:nvPr/>
        </p:nvSpPr>
        <p:spPr>
          <a:xfrm>
            <a:off x="2035622" y="599766"/>
            <a:ext cx="2351322" cy="43437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Overall Churn Split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37BA1A2-C29E-E9E3-69AA-C22CF1CB222B}"/>
              </a:ext>
            </a:extLst>
          </p:cNvPr>
          <p:cNvSpPr/>
          <p:nvPr/>
        </p:nvSpPr>
        <p:spPr>
          <a:xfrm>
            <a:off x="5747649" y="599762"/>
            <a:ext cx="2351322" cy="43437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Avg Tenure (Months)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5CF565-C62E-A38C-75E8-1338BD2D5FB4}"/>
              </a:ext>
            </a:extLst>
          </p:cNvPr>
          <p:cNvSpPr/>
          <p:nvPr/>
        </p:nvSpPr>
        <p:spPr>
          <a:xfrm>
            <a:off x="9111334" y="621533"/>
            <a:ext cx="2351322" cy="43437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Avg Monthly Charges</a:t>
            </a:r>
          </a:p>
        </p:txBody>
      </p:sp>
      <p:sp>
        <p:nvSpPr>
          <p:cNvPr id="77" name="Shape 8">
            <a:extLst>
              <a:ext uri="{FF2B5EF4-FFF2-40B4-BE49-F238E27FC236}">
                <a16:creationId xmlns:a16="http://schemas.microsoft.com/office/drawing/2014/main" id="{7923238D-A9B4-F686-698D-743B4AD545E3}"/>
              </a:ext>
            </a:extLst>
          </p:cNvPr>
          <p:cNvSpPr/>
          <p:nvPr/>
        </p:nvSpPr>
        <p:spPr>
          <a:xfrm>
            <a:off x="8950226" y="4265895"/>
            <a:ext cx="2743200" cy="914400"/>
          </a:xfrm>
          <a:prstGeom prst="roundRect">
            <a:avLst>
              <a:gd name="adj" fmla="val 12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Text 9">
            <a:extLst>
              <a:ext uri="{FF2B5EF4-FFF2-40B4-BE49-F238E27FC236}">
                <a16:creationId xmlns:a16="http://schemas.microsoft.com/office/drawing/2014/main" id="{CA2248E3-109E-444E-D74F-5BF8EB00CF13}"/>
              </a:ext>
            </a:extLst>
          </p:cNvPr>
          <p:cNvSpPr/>
          <p:nvPr/>
        </p:nvSpPr>
        <p:spPr>
          <a:xfrm>
            <a:off x="8950226" y="4284183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</a:t>
            </a:r>
            <a:endParaRPr lang="en-US" sz="2200" dirty="0"/>
          </a:p>
        </p:txBody>
      </p:sp>
      <p:sp>
        <p:nvSpPr>
          <p:cNvPr id="81" name="Text 10">
            <a:extLst>
              <a:ext uri="{FF2B5EF4-FFF2-40B4-BE49-F238E27FC236}">
                <a16:creationId xmlns:a16="http://schemas.microsoft.com/office/drawing/2014/main" id="{C65964E9-FA46-1358-17F4-7DA2998F9D8E}"/>
              </a:ext>
            </a:extLst>
          </p:cNvPr>
          <p:cNvSpPr/>
          <p:nvPr/>
        </p:nvSpPr>
        <p:spPr>
          <a:xfrm>
            <a:off x="8950226" y="4741383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monthly cost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(Churned vs Retained)</a:t>
            </a:r>
            <a:endParaRPr lang="en-US" sz="1100" dirty="0"/>
          </a:p>
        </p:txBody>
      </p:sp>
      <p:sp>
        <p:nvSpPr>
          <p:cNvPr id="83" name="Shape 11">
            <a:extLst>
              <a:ext uri="{FF2B5EF4-FFF2-40B4-BE49-F238E27FC236}">
                <a16:creationId xmlns:a16="http://schemas.microsoft.com/office/drawing/2014/main" id="{F4F52649-A4B6-E7A5-CD32-50595E1A48F4}"/>
              </a:ext>
            </a:extLst>
          </p:cNvPr>
          <p:cNvSpPr/>
          <p:nvPr/>
        </p:nvSpPr>
        <p:spPr>
          <a:xfrm>
            <a:off x="5437633" y="4265893"/>
            <a:ext cx="2743200" cy="914400"/>
          </a:xfrm>
          <a:prstGeom prst="roundRect">
            <a:avLst>
              <a:gd name="adj" fmla="val 12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0B05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C1920F84-1A54-E33E-3313-04815F8CD789}"/>
              </a:ext>
            </a:extLst>
          </p:cNvPr>
          <p:cNvSpPr/>
          <p:nvPr/>
        </p:nvSpPr>
        <p:spPr>
          <a:xfrm>
            <a:off x="5437633" y="4284181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</a:t>
            </a:r>
            <a:endParaRPr lang="en-US" sz="2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7" name="Text 13">
            <a:extLst>
              <a:ext uri="{FF2B5EF4-FFF2-40B4-BE49-F238E27FC236}">
                <a16:creationId xmlns:a16="http://schemas.microsoft.com/office/drawing/2014/main" id="{0AAC5540-F29D-001F-50A3-2519F7B0930F}"/>
              </a:ext>
            </a:extLst>
          </p:cNvPr>
          <p:cNvSpPr/>
          <p:nvPr/>
        </p:nvSpPr>
        <p:spPr>
          <a:xfrm>
            <a:off x="5437633" y="4741381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stay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 vs 38 months)</a:t>
            </a:r>
            <a:endParaRPr lang="en-US" sz="1100" dirty="0"/>
          </a:p>
        </p:txBody>
      </p:sp>
      <p:sp>
        <p:nvSpPr>
          <p:cNvPr id="89" name="Shape 14">
            <a:extLst>
              <a:ext uri="{FF2B5EF4-FFF2-40B4-BE49-F238E27FC236}">
                <a16:creationId xmlns:a16="http://schemas.microsoft.com/office/drawing/2014/main" id="{28DF240E-F715-10E1-C522-801B5A7FCB2E}"/>
              </a:ext>
            </a:extLst>
          </p:cNvPr>
          <p:cNvSpPr/>
          <p:nvPr/>
        </p:nvSpPr>
        <p:spPr>
          <a:xfrm>
            <a:off x="1729085" y="4276779"/>
            <a:ext cx="2743200" cy="914400"/>
          </a:xfrm>
          <a:prstGeom prst="roundRect">
            <a:avLst>
              <a:gd name="adj" fmla="val 12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1B4F7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Text 15">
            <a:extLst>
              <a:ext uri="{FF2B5EF4-FFF2-40B4-BE49-F238E27FC236}">
                <a16:creationId xmlns:a16="http://schemas.microsoft.com/office/drawing/2014/main" id="{52C0563F-F206-0D0B-1E8E-6FA57EFB0E1B}"/>
              </a:ext>
            </a:extLst>
          </p:cNvPr>
          <p:cNvSpPr/>
          <p:nvPr/>
        </p:nvSpPr>
        <p:spPr>
          <a:xfrm>
            <a:off x="1729085" y="4295067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2200" dirty="0"/>
          </a:p>
        </p:txBody>
      </p:sp>
      <p:sp>
        <p:nvSpPr>
          <p:cNvPr id="93" name="Text 16">
            <a:extLst>
              <a:ext uri="{FF2B5EF4-FFF2-40B4-BE49-F238E27FC236}">
                <a16:creationId xmlns:a16="http://schemas.microsoft.com/office/drawing/2014/main" id="{C4FD4C31-8ABB-E464-FADE-999DDD896A2D}"/>
              </a:ext>
            </a:extLst>
          </p:cNvPr>
          <p:cNvSpPr/>
          <p:nvPr/>
        </p:nvSpPr>
        <p:spPr>
          <a:xfrm>
            <a:off x="1729085" y="4752267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(above 15–20% benchmark)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74777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631B30-2719-A821-3F70-D5504AEBBF59}"/>
              </a:ext>
            </a:extLst>
          </p:cNvPr>
          <p:cNvSpPr/>
          <p:nvPr/>
        </p:nvSpPr>
        <p:spPr>
          <a:xfrm>
            <a:off x="-5" y="10883"/>
            <a:ext cx="12192005" cy="5445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&amp; Internet Service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5EAF93-FA9A-BC59-308B-03C4A0B8B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883" y="1099459"/>
            <a:ext cx="3554231" cy="25240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E738A0-9DF6-8527-06B9-A0777C038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182" y="1091881"/>
            <a:ext cx="4344815" cy="220502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4AD396B-3632-C4F1-E914-75B09016D250}"/>
              </a:ext>
            </a:extLst>
          </p:cNvPr>
          <p:cNvSpPr/>
          <p:nvPr/>
        </p:nvSpPr>
        <p:spPr>
          <a:xfrm>
            <a:off x="2558138" y="599766"/>
            <a:ext cx="2351322" cy="43437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Churn by Contract Type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5EB0EB-BAB7-D284-79F5-0086ADCA8569}"/>
              </a:ext>
            </a:extLst>
          </p:cNvPr>
          <p:cNvSpPr/>
          <p:nvPr/>
        </p:nvSpPr>
        <p:spPr>
          <a:xfrm>
            <a:off x="7238991" y="610655"/>
            <a:ext cx="2351322" cy="43437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Churn by Internet Service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9BAAA0EF-64E1-DA60-28BA-3BEDE31D9608}"/>
              </a:ext>
            </a:extLst>
          </p:cNvPr>
          <p:cNvSpPr/>
          <p:nvPr/>
        </p:nvSpPr>
        <p:spPr>
          <a:xfrm>
            <a:off x="2397031" y="4178809"/>
            <a:ext cx="2743200" cy="1155190"/>
          </a:xfrm>
          <a:prstGeom prst="roundRect">
            <a:avLst>
              <a:gd name="adj" fmla="val 12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227AE8A4-ACBD-FBB2-3E45-68100F2DBC6E}"/>
              </a:ext>
            </a:extLst>
          </p:cNvPr>
          <p:cNvSpPr/>
          <p:nvPr/>
        </p:nvSpPr>
        <p:spPr>
          <a:xfrm>
            <a:off x="2397031" y="44801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Month-on-month 42.71% churn</a:t>
            </a:r>
            <a:endParaRPr lang="en-US" sz="2000" dirty="0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1B4F8009-3D8F-BC91-5387-3B4E71603014}"/>
              </a:ext>
            </a:extLst>
          </p:cNvPr>
          <p:cNvSpPr/>
          <p:nvPr/>
        </p:nvSpPr>
        <p:spPr>
          <a:xfrm>
            <a:off x="7426227" y="4124382"/>
            <a:ext cx="2743200" cy="1155190"/>
          </a:xfrm>
          <a:prstGeom prst="roundRect">
            <a:avLst>
              <a:gd name="adj" fmla="val 12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0206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F0147ABC-4FBB-3B55-FA83-AD1B1853CAE9}"/>
              </a:ext>
            </a:extLst>
          </p:cNvPr>
          <p:cNvSpPr/>
          <p:nvPr/>
        </p:nvSpPr>
        <p:spPr>
          <a:xfrm>
            <a:off x="7426227" y="4425701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churn at 41.89%</a:t>
            </a: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921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B6BF6DE-E46F-9327-6A1B-A7A790960C1B}"/>
              </a:ext>
            </a:extLst>
          </p:cNvPr>
          <p:cNvSpPr/>
          <p:nvPr/>
        </p:nvSpPr>
        <p:spPr>
          <a:xfrm>
            <a:off x="-5" y="10883"/>
            <a:ext cx="12192005" cy="5445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Payment Method &amp; Customer Tenure</a:t>
            </a:r>
            <a:endParaRPr lang="en-US" sz="3200" dirty="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36B8C0-9B5D-EF0D-C53F-6D10A9F3A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127" y="1243217"/>
            <a:ext cx="4039029" cy="24816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4CEA81-C41E-56AC-3EC9-BAE5D9EA2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717" y="1247174"/>
            <a:ext cx="5320395" cy="248166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B7F927F-0DB0-A722-4ABA-310384192CC7}"/>
              </a:ext>
            </a:extLst>
          </p:cNvPr>
          <p:cNvSpPr/>
          <p:nvPr/>
        </p:nvSpPr>
        <p:spPr>
          <a:xfrm>
            <a:off x="3102426" y="599766"/>
            <a:ext cx="2351322" cy="43437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Churn by Payment Method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7424CF-AB7C-B7D8-F6C2-4923C17B46AC}"/>
              </a:ext>
            </a:extLst>
          </p:cNvPr>
          <p:cNvSpPr/>
          <p:nvPr/>
        </p:nvSpPr>
        <p:spPr>
          <a:xfrm>
            <a:off x="8621477" y="610655"/>
            <a:ext cx="2351322" cy="43437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Churn by Tenure Group</a:t>
            </a: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3DBB5F0D-F99D-D084-B290-AAEAE2A054E4}"/>
              </a:ext>
            </a:extLst>
          </p:cNvPr>
          <p:cNvSpPr/>
          <p:nvPr/>
        </p:nvSpPr>
        <p:spPr>
          <a:xfrm>
            <a:off x="2690945" y="4298552"/>
            <a:ext cx="2743200" cy="1155190"/>
          </a:xfrm>
          <a:prstGeom prst="roundRect">
            <a:avLst>
              <a:gd name="adj" fmla="val 1200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9EDEE576-B90E-061B-1E6C-DC7A1821CE0D}"/>
              </a:ext>
            </a:extLst>
          </p:cNvPr>
          <p:cNvSpPr/>
          <p:nvPr/>
        </p:nvSpPr>
        <p:spPr>
          <a:xfrm>
            <a:off x="2690945" y="4599871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churn at 45.29% </a:t>
            </a:r>
            <a:endParaRPr lang="en-US" sz="200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37F8EB6C-DAEB-28ED-B505-B932E6753D06}"/>
              </a:ext>
            </a:extLst>
          </p:cNvPr>
          <p:cNvSpPr/>
          <p:nvPr/>
        </p:nvSpPr>
        <p:spPr>
          <a:xfrm>
            <a:off x="7861655" y="4244125"/>
            <a:ext cx="2743200" cy="1155190"/>
          </a:xfrm>
          <a:prstGeom prst="roundRect">
            <a:avLst>
              <a:gd name="adj" fmla="val 12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0206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11936C2D-BC86-2077-8961-51029CA5A0E8}"/>
              </a:ext>
            </a:extLst>
          </p:cNvPr>
          <p:cNvSpPr/>
          <p:nvPr/>
        </p:nvSpPr>
        <p:spPr>
          <a:xfrm>
            <a:off x="7861655" y="454544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(0-12 months) churn at 47.44%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568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E75178-BB05-B15A-839B-600A1B6B9E11}"/>
              </a:ext>
            </a:extLst>
          </p:cNvPr>
          <p:cNvSpPr/>
          <p:nvPr/>
        </p:nvSpPr>
        <p:spPr>
          <a:xfrm>
            <a:off x="-5" y="10883"/>
            <a:ext cx="12192005" cy="5445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Add-On Services &amp; Demographics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BE6F7C-47F9-C182-1420-3CF6A7FFC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9" y="1127786"/>
            <a:ext cx="2329543" cy="35275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55B2AC-EAF2-A87E-0759-6E9FE0075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38672"/>
            <a:ext cx="4309889" cy="29312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83811F1-7D4A-F2A8-3E3F-2AF15E5E1D47}"/>
              </a:ext>
            </a:extLst>
          </p:cNvPr>
          <p:cNvSpPr/>
          <p:nvPr/>
        </p:nvSpPr>
        <p:spPr>
          <a:xfrm>
            <a:off x="1981194" y="599766"/>
            <a:ext cx="2351322" cy="43437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Churn by Add-on Service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5AA24D-9C2A-EB83-D374-9B401C38E173}"/>
              </a:ext>
            </a:extLst>
          </p:cNvPr>
          <p:cNvSpPr/>
          <p:nvPr/>
        </p:nvSpPr>
        <p:spPr>
          <a:xfrm>
            <a:off x="7238991" y="610655"/>
            <a:ext cx="2351322" cy="434379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Churn by Demographic Factors</a:t>
            </a: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06E50914-0942-0B32-6279-0A9009F94674}"/>
              </a:ext>
            </a:extLst>
          </p:cNvPr>
          <p:cNvSpPr/>
          <p:nvPr/>
        </p:nvSpPr>
        <p:spPr>
          <a:xfrm>
            <a:off x="740229" y="5002642"/>
            <a:ext cx="4106088" cy="6470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Tech Support or Online Security churned more frequently.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D57D557E-9CAB-5E78-6273-E468C7E0C88F}"/>
              </a:ext>
            </a:extLst>
          </p:cNvPr>
          <p:cNvSpPr/>
          <p:nvPr/>
        </p:nvSpPr>
        <p:spPr>
          <a:xfrm>
            <a:off x="6324599" y="5002643"/>
            <a:ext cx="4106088" cy="6470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showed a higher churn rate than younger customers.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1816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15B2B8-E1B5-4911-48EF-7865CA5BE883}"/>
              </a:ext>
            </a:extLst>
          </p:cNvPr>
          <p:cNvSpPr/>
          <p:nvPr/>
        </p:nvSpPr>
        <p:spPr>
          <a:xfrm>
            <a:off x="-5" y="10883"/>
            <a:ext cx="12192005" cy="5445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C9CE0D3-235F-43F7-2F95-6DEFE1DFEEF3}"/>
              </a:ext>
            </a:extLst>
          </p:cNvPr>
          <p:cNvSpPr/>
          <p:nvPr/>
        </p:nvSpPr>
        <p:spPr>
          <a:xfrm>
            <a:off x="1751291" y="957942"/>
            <a:ext cx="10103249" cy="50727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Contract Upgrade Campaign</a:t>
            </a:r>
            <a:r>
              <a:rPr lang="en-US" b="1" dirty="0"/>
              <a:t>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Offer month-to-month customers 10–15% discount to switch to annual contracts. Target 6+ month customers first.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Fix the Fiber Experience</a:t>
            </a:r>
            <a:r>
              <a:rPr lang="en-US" b="1" dirty="0"/>
              <a:t>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Audit fiber quality, introduce a Fiber Guarantee with bill credits, and add proactive retention calls for new fiber users.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Onboarding</a:t>
            </a:r>
            <a:r>
              <a:rPr lang="en-US" b="1" dirty="0"/>
              <a:t>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90-day journey: welcome call (Day 1), check-in (Day 30), cross-sell offer (Day 60), loyalty milestone (Day 90).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Bundle Add-On Services</a:t>
            </a:r>
            <a:r>
              <a:rPr lang="en-US" b="1" dirty="0"/>
              <a:t>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Include Online Security &amp; Tech Support in base plans. Each add-on reduces churn by 20–27pp  retention ROI far exceeds cost.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Auto-Payment Incentive</a:t>
            </a:r>
            <a:r>
              <a:rPr lang="en-US" b="1" dirty="0"/>
              <a:t>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Offer $5/month bill credit to electronic check users who switch to automatic payment. Saves ~30pp in churn risk.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 Program</a:t>
            </a:r>
            <a:r>
              <a:rPr lang="en-US" b="1" dirty="0"/>
              <a:t>: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 line, simplified billing, and a modest 5–8% monthly discount for customers aged 65+.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95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57F2EA-A281-A751-690F-E7068D963132}"/>
              </a:ext>
            </a:extLst>
          </p:cNvPr>
          <p:cNvSpPr/>
          <p:nvPr/>
        </p:nvSpPr>
        <p:spPr>
          <a:xfrm>
            <a:off x="-5" y="10883"/>
            <a:ext cx="12192005" cy="5445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B7512BB-AFBB-EBA1-9418-AEAA40BE8CAC}"/>
              </a:ext>
            </a:extLst>
          </p:cNvPr>
          <p:cNvSpPr/>
          <p:nvPr/>
        </p:nvSpPr>
        <p:spPr>
          <a:xfrm>
            <a:off x="1611085" y="807718"/>
            <a:ext cx="8229600" cy="37969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ea typeface="Calibri" pitchFamily="34" charset="-122"/>
                <a:cs typeface="Calibri" pitchFamily="34" charset="-120"/>
              </a:rPr>
              <a:t>Customer churn is not random  it is predictable, concentrated, and preventable.
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Calibri" pitchFamily="34" charset="-122"/>
                <a:cs typeface="Calibri" pitchFamily="34" charset="-120"/>
              </a:rPr>
              <a:t>The data shows clear, actionable patterns:</a:t>
            </a:r>
          </a:p>
          <a:p>
            <a:pPr marL="0" indent="0">
              <a:buNone/>
            </a:pPr>
            <a:r>
              <a:rPr lang="en-US" dirty="0">
                <a:ea typeface="Calibri" pitchFamily="34" charset="-122"/>
                <a:cs typeface="Calibri" pitchFamily="34" charset="-120"/>
              </a:rPr>
              <a:t>month-to-month contracts, fiber optic dissatisfaction, electronic check payment and the critical first-year window together account for most of the churn risk.
Customers who stay past year one, adopt add-on services, sign longer contracts, and use automatic payment churn at under 15%. </a:t>
            </a:r>
          </a:p>
          <a:p>
            <a:pPr marL="0" indent="0">
              <a:buNone/>
            </a:pPr>
            <a:endParaRPr lang="en-US" dirty="0"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b="1" dirty="0">
                <a:ea typeface="Calibri" pitchFamily="34" charset="-122"/>
                <a:cs typeface="Calibri" pitchFamily="34" charset="-120"/>
              </a:rPr>
              <a:t>The company already knows what a loyal customer looks like  the goal is to engineer more customers toward that profile from Day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77633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1932</TotalTime>
  <Words>692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Palatino Linotype</vt:lpstr>
      <vt:lpstr>Wingdings</vt:lpstr>
      <vt:lpstr>Gallery</vt:lpstr>
      <vt:lpstr>TELCO CUSTOMER CHURN </vt:lpstr>
      <vt:lpstr>PowerPoint Presentation</vt:lpstr>
      <vt:lpstr>  The Customer Churn  dataset contains information about customers of a telecommunications company and is designed to help analyze why customers discontinue their services.  Each record represents one unique customer and their relationship with the company.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Vivian</dc:creator>
  <cp:lastModifiedBy>Vivian</cp:lastModifiedBy>
  <cp:revision>11</cp:revision>
  <dcterms:created xsi:type="dcterms:W3CDTF">2026-07-01T15:13:04Z</dcterms:created>
  <dcterms:modified xsi:type="dcterms:W3CDTF">2026-07-03T13:23:01Z</dcterms:modified>
</cp:coreProperties>
</file>